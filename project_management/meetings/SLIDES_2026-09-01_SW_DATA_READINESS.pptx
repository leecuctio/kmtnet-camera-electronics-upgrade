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2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6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394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축이 별개 코드가 아니라 한 체계임을 먼저 — 규격 문서가 정본, 변환기·파이프라인·계량툴·gmon이 같은 geometry(AMPINFO)를 읽는다. 실측값은 코드 수정 없이 헤더·caldb 교체로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규격 판정 기준은 한 문장 — raw pair가 규격을 만족하면 converter는 placeholder 없이 L0를 채운다. guide raw(G)는 v1.9에서 9·10장으로 신설, 소비자는 gmon.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 전환(리허설·사이트)은 코드 수정 없이 L0 헤더/XTALKINFO·caldb 교체만으로 반영(D-005). NFS 회피·노출 단위 병렬화 등 서버 운영 가이드까지 README에 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값 자체는 구형 기준선이며 신규 전자부 최종 파라미터가 아님. CTIO gain 사이트차는 헤더 공칭값 노후를 실측으로 확인한 사례 — 같은 코드로 신규 전자부를 측정한다.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스냅샷(3×3 나침반 PSF)·그래프·fw 파일 형식 모두 운용판 파리티 — 관측자 훈련 비용 최소화. 커미셔닝 항목은 하늘·실기기에서만 확정 가능한 것들로, gmon.conf 키만 바꾸면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그림 — Archon raw부터 L1 · 시상 모니터까지 한 체계로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과학 노출 (노출 1회 = raw 2개)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645920" cy="896112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 w="12700">
            <a:solidFill>
              <a:srgbClr val="5A6B8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7784" y="1207008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 Archon ×2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(science)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77440" y="1207008"/>
            <a:ext cx="1645920" cy="896112"/>
          </a:xfrm>
          <a:prstGeom prst="roundRect">
            <a:avLst>
              <a:gd name="adj" fmla="val 5612"/>
            </a:avLst>
          </a:prstGeom>
          <a:solidFill>
            <a:srgbClr val="EEF3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32304" y="1207008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raw pair MK·NT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19200×9400 ×2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207008"/>
            <a:ext cx="1645920" cy="896112"/>
          </a:xfrm>
          <a:prstGeom prst="roundRect">
            <a:avLst>
              <a:gd name="adj" fmla="val 5612"/>
            </a:avLst>
          </a:prstGeom>
          <a:solidFill>
            <a:srgbClr val="1623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06824" y="1207008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mef_converter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v2.2.0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207008"/>
            <a:ext cx="1645920" cy="896112"/>
          </a:xfrm>
          <a:prstGeom prst="roundRect">
            <a:avLst>
              <a:gd name="adj" fmla="val 5612"/>
            </a:avLst>
          </a:prstGeom>
          <a:solidFill>
            <a:srgbClr val="EEF3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81344" y="1207008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L0 64-amp MEF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69 HDU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01000" y="1207008"/>
            <a:ext cx="1645920" cy="896112"/>
          </a:xfrm>
          <a:prstGeom prst="roundRect">
            <a:avLst>
              <a:gd name="adj" fmla="val 5612"/>
            </a:avLst>
          </a:prstGeom>
          <a:solidFill>
            <a:srgbClr val="1623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55864" y="1207008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mef_pipeline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v1.7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875520" y="1207008"/>
            <a:ext cx="1645920" cy="896112"/>
          </a:xfrm>
          <a:prstGeom prst="roundRect">
            <a:avLst>
              <a:gd name="adj" fmla="val 5612"/>
            </a:avLst>
          </a:prstGeom>
          <a:solidFill>
            <a:srgbClr val="FDF1E3"/>
          </a:solidFill>
          <a:ln w="15875">
            <a:solidFill>
              <a:srgbClr val="E886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30384" y="1207008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L1 CCD MEF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QA·caldb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67128" y="1655064"/>
            <a:ext cx="192024" cy="0"/>
          </a:xfrm>
          <a:prstGeom prst="line">
            <a:avLst/>
          </a:prstGeom>
          <a:noFill/>
          <a:ln w="22225">
            <a:solidFill>
              <a:srgbClr val="5A6B8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41648" y="1655064"/>
            <a:ext cx="192024" cy="0"/>
          </a:xfrm>
          <a:prstGeom prst="line">
            <a:avLst/>
          </a:prstGeom>
          <a:noFill/>
          <a:ln w="22225">
            <a:solidFill>
              <a:srgbClr val="5A6B8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16168" y="1655064"/>
            <a:ext cx="192024" cy="0"/>
          </a:xfrm>
          <a:prstGeom prst="line">
            <a:avLst/>
          </a:prstGeom>
          <a:noFill/>
          <a:ln w="22225">
            <a:solidFill>
              <a:srgbClr val="5A6B8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90688" y="1655064"/>
            <a:ext cx="192024" cy="0"/>
          </a:xfrm>
          <a:prstGeom prst="line">
            <a:avLst/>
          </a:prstGeom>
          <a:noFill/>
          <a:ln w="22225">
            <a:solidFill>
              <a:srgbClr val="5A6B8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65208" y="1655064"/>
            <a:ext cx="192024" cy="0"/>
          </a:xfrm>
          <a:prstGeom prst="line">
            <a:avLst/>
          </a:prstGeom>
          <a:noFill/>
          <a:ln w="22225">
            <a:solidFill>
              <a:srgbClr val="5A6B84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02920" y="23591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가이드 노출 (시상 모니터)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633472"/>
            <a:ext cx="1645920" cy="896112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 w="12700">
            <a:solidFill>
              <a:srgbClr val="5A6B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7784" y="2633472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 Archon ×1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(guide)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0" y="2633472"/>
            <a:ext cx="1645920" cy="896112"/>
          </a:xfrm>
          <a:prstGeom prst="roundRect">
            <a:avLst>
              <a:gd name="adj" fmla="val 5612"/>
            </a:avLst>
          </a:prstGeom>
          <a:solidFill>
            <a:srgbClr val="EEF3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32304" y="2633472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guide raw G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4224×1033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51960" y="2633472"/>
            <a:ext cx="1645920" cy="896112"/>
          </a:xfrm>
          <a:prstGeom prst="roundRect">
            <a:avLst>
              <a:gd name="adj" fmla="val 5612"/>
            </a:avLst>
          </a:prstGeom>
          <a:solidFill>
            <a:srgbClr val="1623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06824" y="2633472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gmon v2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2633472"/>
            <a:ext cx="1645920" cy="896112"/>
          </a:xfrm>
          <a:prstGeom prst="roundRect">
            <a:avLst>
              <a:gd name="adj" fmla="val 5612"/>
            </a:avLst>
          </a:prstGeom>
          <a:solidFill>
            <a:srgbClr val="FDF1E3"/>
          </a:solidFill>
          <a:ln w="15875">
            <a:solidFill>
              <a:srgbClr val="E886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81344" y="2633472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FWHM·PSF·초점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 → TCS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67128" y="3081528"/>
            <a:ext cx="192024" cy="0"/>
          </a:xfrm>
          <a:prstGeom prst="line">
            <a:avLst/>
          </a:prstGeom>
          <a:noFill/>
          <a:ln w="22225">
            <a:solidFill>
              <a:srgbClr val="5A6B8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041648" y="3081528"/>
            <a:ext cx="192024" cy="0"/>
          </a:xfrm>
          <a:prstGeom prst="line">
            <a:avLst/>
          </a:prstGeom>
          <a:noFill/>
          <a:ln w="22225">
            <a:solidFill>
              <a:srgbClr val="5A6B8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16168" y="3081528"/>
            <a:ext cx="192024" cy="0"/>
          </a:xfrm>
          <a:prstGeom prst="line">
            <a:avLst/>
          </a:prstGeom>
          <a:noFill/>
          <a:ln w="22225">
            <a:solidFill>
              <a:srgbClr val="5A6B8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01000" y="2633472"/>
            <a:ext cx="3520440" cy="896112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 w="12700">
            <a:solidFill>
              <a:srgbClr val="C9D6E8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8110728" y="2633472"/>
            <a:ext cx="3300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산출물 규격 문서 (기준선)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raw spec v1.9 (guide 장 신설) · L0 ICD v4.1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keyword 정의서 v1.0 · GEOMVER CEU-L0AMP-v2.1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37856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특성 측정 (실험실·사이트 캠페인)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4059936"/>
            <a:ext cx="3520440" cy="896112"/>
          </a:xfrm>
          <a:prstGeom prst="roundRect">
            <a:avLst>
              <a:gd name="adj" fmla="val 5612"/>
            </a:avLst>
          </a:prstGeom>
          <a:solidFill>
            <a:srgbClr val="16233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57784" y="4059936"/>
            <a:ext cx="3410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 err="1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cam_char</a:t>
            </a: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계량툴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4059936"/>
            <a:ext cx="3520440" cy="896112"/>
          </a:xfrm>
          <a:prstGeom prst="roundRect">
            <a:avLst>
              <a:gd name="adj" fmla="val 5612"/>
            </a:avLst>
          </a:prstGeom>
          <a:solidFill>
            <a:srgbClr val="EEF3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81344" y="4059936"/>
            <a:ext cx="3410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amp별 GAIN·RN·SATURAT·linearity·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crosstalk → L0 헤더·AMPINFO·caldb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41648" y="4507992"/>
            <a:ext cx="2066544" cy="0"/>
          </a:xfrm>
          <a:prstGeom prst="line">
            <a:avLst/>
          </a:prstGeom>
          <a:noFill/>
          <a:ln w="22225">
            <a:solidFill>
              <a:srgbClr val="5A6B84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6126480" y="50292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8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실측되면 코드 수정 없이 값만 교체 (D-005)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863840" y="3785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6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■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신규 구현 코드   </a:t>
            </a:r>
            <a:r>
              <a:rPr lang="en-US" sz="950" dirty="0">
                <a:solidFill>
                  <a:srgbClr val="EEF3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■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데이터 제품   </a:t>
            </a:r>
            <a:r>
              <a:rPr lang="en-US" sz="950" dirty="0">
                <a:solidFill>
                  <a:srgbClr val="FDF1E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■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최종 산출물   □ 하드웨어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" y="5358384"/>
            <a:ext cx="2743200" cy="841248"/>
          </a:xfrm>
          <a:prstGeom prst="roundRect">
            <a:avLst>
              <a:gd name="adj" fmla="val 5978"/>
            </a:avLst>
          </a:prstGeom>
          <a:solidFill>
            <a:srgbClr val="EEF3FA"/>
          </a:solidFill>
          <a:ln/>
        </p:spPr>
      </p:sp>
      <p:sp>
        <p:nvSpPr>
          <p:cNvPr id="44" name="Shape 42"/>
          <p:cNvSpPr/>
          <p:nvPr/>
        </p:nvSpPr>
        <p:spPr>
          <a:xfrm>
            <a:off x="630936" y="5614416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30936" y="5600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69848" y="5431536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MEF·raw 규격 확정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raw v1.9 · ICD v4.1 · 변환기 v2.2.0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346704" y="5358384"/>
            <a:ext cx="2743200" cy="841248"/>
          </a:xfrm>
          <a:prstGeom prst="roundRect">
            <a:avLst>
              <a:gd name="adj" fmla="val 5978"/>
            </a:avLst>
          </a:prstGeom>
          <a:solidFill>
            <a:srgbClr val="EEF3FA"/>
          </a:solidFill>
          <a:ln/>
        </p:spPr>
      </p:sp>
      <p:sp>
        <p:nvSpPr>
          <p:cNvPr id="48" name="Shape 46"/>
          <p:cNvSpPr/>
          <p:nvPr/>
        </p:nvSpPr>
        <p:spPr>
          <a:xfrm>
            <a:off x="3474720" y="5614416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474720" y="5600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913632" y="5431536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전처리 v1.7 검증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mock 야간 40노출 end-to-end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90488" y="5358384"/>
            <a:ext cx="2743200" cy="841248"/>
          </a:xfrm>
          <a:prstGeom prst="roundRect">
            <a:avLst>
              <a:gd name="adj" fmla="val 5978"/>
            </a:avLst>
          </a:prstGeom>
          <a:solidFill>
            <a:srgbClr val="EEF3FA"/>
          </a:solidFill>
          <a:ln/>
        </p:spPr>
      </p:sp>
      <p:sp>
        <p:nvSpPr>
          <p:cNvPr id="52" name="Shape 50"/>
          <p:cNvSpPr/>
          <p:nvPr/>
        </p:nvSpPr>
        <p:spPr>
          <a:xfrm>
            <a:off x="6318504" y="5614416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318504" y="5600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757416" y="5431536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기준선 리포트 v1.0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3사이트 449 프레임 실전 측정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034272" y="5358384"/>
            <a:ext cx="2743200" cy="841248"/>
          </a:xfrm>
          <a:prstGeom prst="roundRect">
            <a:avLst>
              <a:gd name="adj" fmla="val 5978"/>
            </a:avLst>
          </a:prstGeom>
          <a:solidFill>
            <a:srgbClr val="EEF3FA"/>
          </a:solidFill>
          <a:ln/>
        </p:spPr>
      </p:sp>
      <p:sp>
        <p:nvSpPr>
          <p:cNvPr id="56" name="Shape 54"/>
          <p:cNvSpPr/>
          <p:nvPr/>
        </p:nvSpPr>
        <p:spPr>
          <a:xfrm>
            <a:off x="9162288" y="5614416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162288" y="5600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9601200" y="5431536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gmon v2 재구현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합성·실프레임 주입 시험 통과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50292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SW freeze 2026-09-15 — 이후 bug fix만 · repository baseline 태그(ACT-004)와 연동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154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64-amp MEF 포맷 정의 — 입력(raw)·</a:t>
            </a:r>
            <a:r>
              <a:rPr lang="en-US" sz="2500" b="1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</a:t>
            </a:r>
            <a:r>
              <a:rPr lang="en-US" sz="25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(L0) </a:t>
            </a:r>
            <a:r>
              <a:rPr lang="en-US" sz="2500" b="1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mef_converter</a:t>
            </a:r>
            <a:r>
              <a:rPr lang="ko-KR" altLang="en-US" sz="25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389207" y="1530564"/>
            <a:ext cx="3886200" cy="442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MEF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규격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L0 MEF ICD v4.1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+ keyword 정의서 v1.0 — md·docx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병행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</a:t>
            </a:r>
            <a:endParaRPr lang="en-US" sz="1300" dirty="0">
              <a:solidFill>
                <a:srgbClr val="1F2937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</a:rPr>
              <a:t>규격에 맞춰 </a:t>
            </a:r>
            <a:r>
              <a:rPr lang="en-US" altLang="ko-KR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Archon raw spec v1.9</a:t>
            </a:r>
            <a:r>
              <a:rPr lang="en-US" altLang="ko-KR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(MK·NT pair + guide G </a:t>
            </a:r>
            <a:r>
              <a:rPr lang="en-US" altLang="ko-KR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</a:t>
            </a:r>
            <a:r>
              <a:rPr lang="en-US" altLang="ko-KR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신설</a:t>
            </a:r>
            <a:r>
              <a:rPr lang="en-US" altLang="ko-KR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) </a:t>
            </a:r>
            <a:endParaRPr lang="en-US" altLang="ko-KR" sz="1300" dirty="0"/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L0 </a:t>
            </a:r>
            <a:r>
              <a:rPr lang="ko-KR" alt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구성</a:t>
            </a:r>
            <a:r>
              <a:rPr lang="en-US" altLang="ko-KR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</a:t>
            </a:r>
            <a:r>
              <a:rPr lang="ko-KR" alt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69 HDU</a:t>
            </a:r>
            <a:r>
              <a:rPr lang="ko-KR" alt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=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amp IMAGE 64장(1200×4616, 활성 1152 + overscan 48열) + BINTABLE 4 (AMPINFO·XTALKINFO·VOLTINFO·TELEMETRY)</a:t>
            </a: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Geometry</a:t>
            </a:r>
            <a:r>
              <a:rPr lang="en-US" altLang="ko-KR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AMPINFO 테이블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(GEOMVER CEU-L0AMP-v2.1) — 파이프라인·계량툴이 하드코딩 없이 같은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표를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읽음</a:t>
            </a:r>
            <a:endParaRPr lang="en-US" sz="1300" dirty="0">
              <a:solidFill>
                <a:srgbClr val="1F2937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변환기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v2.2.0: raw pair → L0 (사이트 코드 파일명, D-011) · 구형 32-amp → mock64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변환기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병행</a:t>
            </a:r>
            <a:endParaRPr lang="en-US" sz="1300" dirty="0">
              <a:solidFill>
                <a:srgbClr val="1F2937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DATASEC trim 조립 mosaic이 구형 원본과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4개 CCD 픽셀 단위 완전 일치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(K/N 역순 strip 매핑 포함)</a:t>
            </a:r>
            <a:endParaRPr lang="en-US" sz="1300" dirty="0"/>
          </a:p>
        </p:txBody>
      </p:sp>
      <p:pic>
        <p:nvPicPr>
          <p:cNvPr id="6" name="Image 0" descr="/private/tmp/claude-501/-Users-leecu-LEECU-WORK-2026-4----KMTNet-CEU/f78ae5f6-ac47-4767-9717-5fd0de1ef954/scratchpad/figs/fig1_mef_format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2849" y="1049098"/>
            <a:ext cx="7469944" cy="49950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33313" y="589330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mock 노출의 L0 실파일 렌더 — 좌: 초점면 4 CCD × 16 amp 타일(죽은 N칩 채널이 검게 그대로 보임), 우: amp HDU </a:t>
            </a:r>
            <a:r>
              <a:rPr lang="ko-KR" alt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(DATASEC·serial overscan)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6510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KMTNet CEU · 월보드 교체 종합 검토 · 2026-09-01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154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L0 → L1 전처리 파이프라인 v1.7 — mock </a:t>
            </a:r>
            <a:r>
              <a:rPr lang="en-US" sz="2500" b="1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으로</a:t>
            </a:r>
            <a:r>
              <a:rPr lang="en-US" sz="25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전 구간 검증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389206" y="1214042"/>
            <a:ext cx="3029243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19단계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(overscan → bias → gain → flat → fringe → illum → BPM → AMPMATCH → 조립 → CR → sky → astrometry → ZP) — 순수 Python·NumPy·astropy,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단위테스트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64</a:t>
            </a: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mock </a:t>
            </a:r>
            <a:r>
              <a:rPr lang="ko-KR" alt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관측영상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end-to-end: OBJECT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28장 전량 L1 생성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구조·provenance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검사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통과</a:t>
            </a:r>
            <a:endParaRPr lang="en-US" sz="1300" dirty="0">
              <a:solidFill>
                <a:srgbClr val="1F2937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amp 경계 단차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&gt;100배 감소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470–6,178 e⁻ → 2.2–4.2 e⁻ (28노출 중앙값 23 e⁻ ≈ sky의 0.5%)</a:t>
            </a: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Astrometry: Gaia DR3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TAN–SIP(3)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105칩 해, rms 중앙값 0.31″ · 로컬 Gaia 스토어로 오프라인 성표 &lt;0.5초/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노출</a:t>
            </a:r>
            <a:endParaRPr lang="en-US" sz="1300" dirty="0">
              <a:solidFill>
                <a:srgbClr val="1F2937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측광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ZP: GSPC 합성 JKC V/I 기준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ZPRMS 0.035–0.041 mag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투명도 변화를 수십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mmag로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추적</a:t>
            </a:r>
            <a:endParaRPr lang="en-US" sz="1300" dirty="0">
              <a:solidFill>
                <a:srgbClr val="1F2937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QA가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경험값을</a:t>
            </a:r>
            <a:r>
              <a:rPr lang="ko-KR" alt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검출(죽은 N칩 채널, overscan 하늘 오염) ·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~</a:t>
            </a:r>
            <a:r>
              <a:rPr lang="ko-KR" alt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장당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24초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소모 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(4병렬, 서버 배포 가이드 포함)</a:t>
            </a:r>
            <a:endParaRPr lang="en-US" sz="1300" dirty="0"/>
          </a:p>
        </p:txBody>
      </p:sp>
      <p:pic>
        <p:nvPicPr>
          <p:cNvPr id="6" name="Image 0" descr="/private/tmp/claude-501/-Users-leecu-LEECU-WORK-2026-4----KMTNet-CEU/f78ae5f6-ac47-4767-9717-5fd0de1ef954/scratchpad/figs/fig2_pipelin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6804" y="1041009"/>
            <a:ext cx="8573822" cy="46050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33314" y="564606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노출(CCD M, I 60 s)의 교정 전 amp 조립(좌)과 L1(우) — mock은 실측 legacy 픽셀 기반이라 fringe·오염 등 </a:t>
            </a:r>
            <a:r>
              <a:rPr lang="en-US" sz="950" dirty="0" err="1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현상이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950" dirty="0" err="1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재현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6510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KMTNet CEU · 월보드 교체 종합 검토 · 2026-09-01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154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카메라 특성 계량툴 + 구형 전자부 기준선 리포트 v1.0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351692" y="1256244"/>
            <a:ext cx="322150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계량툴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kmt_cam_char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QC census · RN · PTC(gain) · linearity · EPER(CTE) · PRNU · 리포트 자동 생성 — 파이프라인의 L0 리더·geometry를 재사용(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교차검증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)</a:t>
            </a: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Archon 실험실 취득 스크립트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v2.0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(캠페인 INI·시뮬레이터 테스트) — 신규 전자부 측정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준비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완료</a:t>
            </a:r>
            <a:endParaRPr lang="en-US" sz="1300" dirty="0">
              <a:solidFill>
                <a:srgbClr val="1F2937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캠페인 LEGACY-2026-06/07: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3사이트 × 2야간 · 449 프레임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으로 측정 코드 실전 검증 + 신구 비교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기준선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확보</a:t>
            </a:r>
            <a:endParaRPr lang="en-US" sz="1300" dirty="0">
              <a:solidFill>
                <a:srgbClr val="1F2937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기준선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(중앙값):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GAIN 1.67–1.88 e⁻/ADU · RN 7.0–8.7 e⁻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· PRNU ~0.9% · TOP/BOT 일치 0.1–0.2% · 두 달 gain 재현성 ~0.2%</a:t>
            </a: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신규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전자부 </a:t>
            </a: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pass/fail 기준(ACT-005)의 입력</a:t>
            </a: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측정값은 코드 수정 없이 L0 헤더·AMPINFO·caldb로 주입</a:t>
            </a:r>
            <a:endParaRPr lang="en-US" sz="1300" dirty="0"/>
          </a:p>
        </p:txBody>
      </p:sp>
      <p:pic>
        <p:nvPicPr>
          <p:cNvPr id="6" name="Image 0" descr="/private/tmp/claude-501/-Users-leecu-LEECU-WORK-2026-4----KMTNet-CEU/f78ae5f6-ac47-4767-9717-5fd0de1ef954/scratchpad/figs/fig3_camchar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4648" y="1256244"/>
            <a:ext cx="8088822" cy="42428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26745" y="5709372"/>
            <a:ext cx="6555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 캠페인(3사이트 × 2야간)의 amp별 GAIN·RN — </a:t>
            </a:r>
            <a:r>
              <a:rPr lang="en-US" sz="950" dirty="0" err="1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사이트별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950" dirty="0" err="1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특</a:t>
            </a:r>
            <a:r>
              <a:rPr lang="en-US" sz="950" dirty="0" err="1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(CTIO gain 패턴, SAAO T칩 RN 상승)</a:t>
            </a:r>
            <a:r>
              <a:rPr lang="en-US" sz="950" dirty="0" err="1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950" dirty="0" err="1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재현성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끊긴 </a:t>
            </a:r>
            <a:r>
              <a:rPr lang="en-US" sz="950" dirty="0" err="1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점은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죽은</a:t>
            </a:r>
            <a:r>
              <a:rPr lang="en-US" sz="9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amp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6510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KMTNet CEU · 월보드 교체 종합 검토 · 2026-09-01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154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Archon 가이드 카메라 기반 gmon 재구현 (v2)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82411" y="1068641"/>
            <a:ext cx="3763056" cy="3714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레거시(2018, wish·Perl·IRAF) → </a:t>
            </a:r>
            <a:r>
              <a:rPr lang="en-US" sz="12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Python 전면 재작성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gwatch→gsplit→gpsf(sex·psfex)→gsnap→gplot + Tkinter GUI 3창</a:t>
            </a: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신규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2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gsplit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Archon 단일 FITS(4224×1033, CCD47-20 4칩×2채널) → 칩별 4장 — 채널 스티칭·페데스탈 </a:t>
            </a: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단차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</a:t>
            </a:r>
            <a:endParaRPr lang="en-US" sz="1250" dirty="0">
              <a:solidFill>
                <a:srgbClr val="1F2937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온도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기반 초점 보정 </a:t>
            </a:r>
            <a:r>
              <a:rPr lang="en-US" sz="12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ref = slope·T − (base+dfocus)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→ TCS 전송, AUTO/</a:t>
            </a: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MAN·안전범위·max_jump·dry-run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안전장치</a:t>
            </a:r>
            <a:endParaRPr lang="en-US" sz="1250" dirty="0">
              <a:solidFill>
                <a:srgbClr val="1F2937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레거시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화면·파일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형태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유지 + 오류 수정(fwAVG 평균 버그, </a:t>
            </a: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삭제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 필요</a:t>
            </a:r>
            <a:r>
              <a:rPr lang="en-US" altLang="ko-KR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</a:t>
            </a:r>
            <a:r>
              <a:rPr lang="ko-KR" alt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파일사이즈 압박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)</a:t>
            </a: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합성·실프레임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2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별 주입 시험 통과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· TCS 시뮬레이터로 초점 루프까지 </a:t>
            </a: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</a:t>
            </a: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</a:t>
            </a:r>
            <a:endParaRPr lang="en-US" sz="1250" dirty="0">
              <a:solidFill>
                <a:srgbClr val="1F2937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01600" indent="-101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</a:rPr>
              <a:t>PSF</a:t>
            </a:r>
            <a:r>
              <a:rPr lang="ko-KR" alt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</a:rPr>
              <a:t> 찌그러짐 방향성 </a:t>
            </a:r>
            <a:r>
              <a:rPr lang="en-US" altLang="ko-KR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sym typeface="Wingdings" pitchFamily="2" charset="2"/>
              </a:rPr>
              <a:t></a:t>
            </a:r>
            <a:r>
              <a:rPr lang="ko-KR" alt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sym typeface="Wingdings" pitchFamily="2" charset="2"/>
              </a:rPr>
              <a:t> </a:t>
            </a:r>
            <a:r>
              <a:rPr lang="en-US" altLang="ko-KR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sym typeface="Wingdings" pitchFamily="2" charset="2"/>
              </a:rPr>
              <a:t>90</a:t>
            </a:r>
            <a:r>
              <a:rPr lang="ko-KR" altLang="en-US" sz="1250" dirty="0" err="1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sym typeface="Wingdings" pitchFamily="2" charset="2"/>
              </a:rPr>
              <a:t>도씩</a:t>
            </a:r>
            <a:r>
              <a:rPr lang="ko-KR" alt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sym typeface="Wingdings" pitchFamily="2" charset="2"/>
              </a:rPr>
              <a:t> 회전</a:t>
            </a:r>
            <a:r>
              <a:rPr lang="en-US" altLang="ko-KR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sym typeface="Wingdings" pitchFamily="2" charset="2"/>
              </a:rPr>
              <a:t>(</a:t>
            </a:r>
            <a:r>
              <a:rPr lang="ko-KR" alt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sym typeface="Wingdings" pitchFamily="2" charset="2"/>
              </a:rPr>
              <a:t>현장 최종확인</a:t>
            </a:r>
            <a:r>
              <a:rPr lang="en-US" altLang="ko-KR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sym typeface="Wingdings" pitchFamily="2" charset="2"/>
              </a:rPr>
              <a:t>)</a:t>
            </a:r>
            <a:endParaRPr lang="en-US" sz="125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B88CBA3-E9A0-6CAA-7896-B94029869219}"/>
              </a:ext>
            </a:extLst>
          </p:cNvPr>
          <p:cNvGrpSpPr/>
          <p:nvPr/>
        </p:nvGrpSpPr>
        <p:grpSpPr>
          <a:xfrm>
            <a:off x="4929763" y="5490546"/>
            <a:ext cx="6756269" cy="731520"/>
            <a:chOff x="4765171" y="5120640"/>
            <a:chExt cx="6805505" cy="731520"/>
          </a:xfrm>
        </p:grpSpPr>
        <p:sp>
          <p:nvSpPr>
            <p:cNvPr id="6" name="Shape 4"/>
            <p:cNvSpPr/>
            <p:nvPr/>
          </p:nvSpPr>
          <p:spPr>
            <a:xfrm>
              <a:off x="4765171" y="5120640"/>
              <a:ext cx="6369407" cy="731520"/>
            </a:xfrm>
            <a:prstGeom prst="roundRect">
              <a:avLst>
                <a:gd name="adj" fmla="val 3371"/>
              </a:avLst>
            </a:prstGeom>
            <a:solidFill>
              <a:srgbClr val="EEF3FA"/>
            </a:solidFill>
            <a:ln/>
          </p:spPr>
        </p:sp>
        <p:sp>
          <p:nvSpPr>
            <p:cNvPr id="7" name="Text 5"/>
            <p:cNvSpPr txBox="1"/>
            <p:nvPr/>
          </p:nvSpPr>
          <p:spPr>
            <a:xfrm>
              <a:off x="4929763" y="5219272"/>
              <a:ext cx="6640913" cy="541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2000"/>
                </a:lnSpc>
                <a:spcAft>
                  <a:spcPts val="500"/>
                </a:spcAft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Apple SD Gothic Neo" pitchFamily="34" charset="0"/>
                  <a:ea typeface="Apple SD Gothic Neo" pitchFamily="34" charset="-122"/>
                  <a:cs typeface="Apple SD Gothic Neo" pitchFamily="34" charset="-120"/>
                </a:rPr>
                <a:t>현장(커미셔닝)에서 확정할 항목 — DESIGN §10</a:t>
              </a:r>
              <a:endParaRPr lang="en-US" sz="1050" dirty="0"/>
            </a:p>
            <a:p>
              <a:pPr marL="0" indent="0">
                <a:lnSpc>
                  <a:spcPct val="112000"/>
                </a:lnSpc>
                <a:spcAft>
                  <a:spcPts val="500"/>
                </a:spcAft>
                <a:buNone/>
              </a:pPr>
              <a:r>
                <a:rPr lang="en-US" sz="1050" dirty="0">
                  <a:solidFill>
                    <a:srgbClr val="5A6B84"/>
                  </a:solidFill>
                  <a:latin typeface="Apple SD Gothic Neo" pitchFamily="34" charset="0"/>
                  <a:ea typeface="Apple SD Gothic Neo" pitchFamily="34" charset="-122"/>
                  <a:cs typeface="Apple SD Gothic Neo" pitchFamily="34" charset="-120"/>
                </a:rPr>
                <a:t>칩↔방위 매핑·표시 회전각 / 픽셀 스케일(0.52″ 가정) / 더미 9행·프리스캔 위치 / TCS fttgoto 검증 후 dry_run 해제</a:t>
              </a:r>
              <a:endParaRPr lang="en-US" sz="1050" dirty="0"/>
            </a:p>
          </p:txBody>
        </p:sp>
      </p:grpSp>
      <p:pic>
        <p:nvPicPr>
          <p:cNvPr id="8" name="Image 0" descr="/private/tmp/claude-501/-Users-leecu-LEECU-WORK-2026-4----KMTNet-CEU/f78ae5f6-ac47-4767-9717-5fd0de1ef954/scratchpad/figs/fig4_gmon_split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411" y="4558564"/>
            <a:ext cx="3855017" cy="18639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549640" y="6510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KMTNet CEU · 월보드 교체 종합 검토 · 2026-09-01</a:t>
            </a:r>
            <a:endParaRPr lang="en-US" sz="85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BA2A1E2-B9D4-4C83-694B-3F23C56A37B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61415" y="1133152"/>
            <a:ext cx="7755963" cy="39774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2E1A24-9FDC-1436-3C54-2EB5889C4F0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780" y="166331"/>
            <a:ext cx="11312439" cy="652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5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1206</Words>
  <Application>Microsoft Macintosh PowerPoint</Application>
  <PresentationFormat>와이드스크린</PresentationFormat>
  <Paragraphs>94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Apple SD Gothic Neo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KMTNet CEU — 64-amp 데이터 체계·전처리·특성측정·gmon 진행 현황</dc:title>
  <dc:subject>PptxGenJS Presentation</dc:subject>
  <dc:creator>이충욱</dc:creator>
  <cp:lastModifiedBy>Chung-Uk LEE</cp:lastModifiedBy>
  <cp:revision>3</cp:revision>
  <dcterms:created xsi:type="dcterms:W3CDTF">2026-09-01T00:42:12Z</dcterms:created>
  <dcterms:modified xsi:type="dcterms:W3CDTF">2026-09-01T01:51:59Z</dcterms:modified>
</cp:coreProperties>
</file>